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9F910F-801D-4AD8-B335-2009747DBB70}" v="6" dt="2026-10-06T18:32:08.2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9" d="100"/>
          <a:sy n="99" d="100"/>
        </p:scale>
        <p:origin x="7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ter Vargovčík" userId="a4f848ff8c2c878f" providerId="LiveId" clId="{3C7392A5-73BF-45F9-B9DE-D15C129B33EE}"/>
    <pc:docChg chg="undo redo custSel addSld delSld modSld">
      <pc:chgData name="Peter Vargovčík" userId="a4f848ff8c2c878f" providerId="LiveId" clId="{3C7392A5-73BF-45F9-B9DE-D15C129B33EE}" dt="2026-10-06T18:39:51.047" v="3828" actId="20577"/>
      <pc:docMkLst>
        <pc:docMk/>
      </pc:docMkLst>
      <pc:sldChg chg="modSp mod">
        <pc:chgData name="Peter Vargovčík" userId="a4f848ff8c2c878f" providerId="LiveId" clId="{3C7392A5-73BF-45F9-B9DE-D15C129B33EE}" dt="2026-10-05T10:38:47.520" v="138" actId="20577"/>
        <pc:sldMkLst>
          <pc:docMk/>
          <pc:sldMk cId="768882670" sldId="257"/>
        </pc:sldMkLst>
        <pc:spChg chg="mod">
          <ac:chgData name="Peter Vargovčík" userId="a4f848ff8c2c878f" providerId="LiveId" clId="{3C7392A5-73BF-45F9-B9DE-D15C129B33EE}" dt="2026-10-05T10:38:47.520" v="138" actId="20577"/>
          <ac:spMkLst>
            <pc:docMk/>
            <pc:sldMk cId="768882670" sldId="257"/>
            <ac:spMk id="3" creationId="{C360B34C-1AFB-6626-FDE6-BD379837C57D}"/>
          </ac:spMkLst>
        </pc:spChg>
      </pc:sldChg>
      <pc:sldChg chg="del">
        <pc:chgData name="Peter Vargovčík" userId="a4f848ff8c2c878f" providerId="LiveId" clId="{3C7392A5-73BF-45F9-B9DE-D15C129B33EE}" dt="2026-10-06T11:30:22.429" v="1151" actId="47"/>
        <pc:sldMkLst>
          <pc:docMk/>
          <pc:sldMk cId="718565161" sldId="258"/>
        </pc:sldMkLst>
      </pc:sldChg>
      <pc:sldChg chg="modSp mod">
        <pc:chgData name="Peter Vargovčík" userId="a4f848ff8c2c878f" providerId="LiveId" clId="{3C7392A5-73BF-45F9-B9DE-D15C129B33EE}" dt="2026-10-06T18:39:51.047" v="3828" actId="20577"/>
        <pc:sldMkLst>
          <pc:docMk/>
          <pc:sldMk cId="965115107" sldId="259"/>
        </pc:sldMkLst>
        <pc:spChg chg="mod">
          <ac:chgData name="Peter Vargovčík" userId="a4f848ff8c2c878f" providerId="LiveId" clId="{3C7392A5-73BF-45F9-B9DE-D15C129B33EE}" dt="2026-10-06T08:19:13.605" v="543" actId="20577"/>
          <ac:spMkLst>
            <pc:docMk/>
            <pc:sldMk cId="965115107" sldId="259"/>
            <ac:spMk id="2" creationId="{90ED6F0D-894D-5E28-EB8D-E89B13A0F03C}"/>
          </ac:spMkLst>
        </pc:spChg>
        <pc:spChg chg="mod">
          <ac:chgData name="Peter Vargovčík" userId="a4f848ff8c2c878f" providerId="LiveId" clId="{3C7392A5-73BF-45F9-B9DE-D15C129B33EE}" dt="2026-10-06T18:39:51.047" v="3828" actId="20577"/>
          <ac:spMkLst>
            <pc:docMk/>
            <pc:sldMk cId="965115107" sldId="259"/>
            <ac:spMk id="3" creationId="{D65394BB-8CC0-6BED-3076-4DFA3DBA4AC6}"/>
          </ac:spMkLst>
        </pc:spChg>
      </pc:sldChg>
      <pc:sldChg chg="modSp add mod modNotesTx">
        <pc:chgData name="Peter Vargovčík" userId="a4f848ff8c2c878f" providerId="LiveId" clId="{3C7392A5-73BF-45F9-B9DE-D15C129B33EE}" dt="2026-10-06T18:37:18.202" v="3815" actId="20577"/>
        <pc:sldMkLst>
          <pc:docMk/>
          <pc:sldMk cId="4115178021" sldId="260"/>
        </pc:sldMkLst>
        <pc:spChg chg="mod">
          <ac:chgData name="Peter Vargovčík" userId="a4f848ff8c2c878f" providerId="LiveId" clId="{3C7392A5-73BF-45F9-B9DE-D15C129B33EE}" dt="2026-10-06T11:51:22.122" v="2300" actId="14100"/>
          <ac:spMkLst>
            <pc:docMk/>
            <pc:sldMk cId="4115178021" sldId="260"/>
            <ac:spMk id="2" creationId="{2111F1D0-9F6F-3467-7FEB-533F045FF882}"/>
          </ac:spMkLst>
        </pc:spChg>
        <pc:spChg chg="mod">
          <ac:chgData name="Peter Vargovčík" userId="a4f848ff8c2c878f" providerId="LiveId" clId="{3C7392A5-73BF-45F9-B9DE-D15C129B33EE}" dt="2026-10-06T18:37:18.202" v="3815" actId="20577"/>
          <ac:spMkLst>
            <pc:docMk/>
            <pc:sldMk cId="4115178021" sldId="260"/>
            <ac:spMk id="3" creationId="{508D9FA0-0DC8-F3AC-5515-C19FA8F4C06E}"/>
          </ac:spMkLst>
        </pc:spChg>
      </pc:sldChg>
      <pc:sldChg chg="modSp add mod">
        <pc:chgData name="Peter Vargovčík" userId="a4f848ff8c2c878f" providerId="LiveId" clId="{3C7392A5-73BF-45F9-B9DE-D15C129B33EE}" dt="2026-10-06T12:05:01.810" v="2964" actId="20577"/>
        <pc:sldMkLst>
          <pc:docMk/>
          <pc:sldMk cId="3379694390" sldId="261"/>
        </pc:sldMkLst>
        <pc:spChg chg="mod">
          <ac:chgData name="Peter Vargovčík" userId="a4f848ff8c2c878f" providerId="LiveId" clId="{3C7392A5-73BF-45F9-B9DE-D15C129B33EE}" dt="2026-10-06T11:53:53.183" v="2358" actId="20577"/>
          <ac:spMkLst>
            <pc:docMk/>
            <pc:sldMk cId="3379694390" sldId="261"/>
            <ac:spMk id="2" creationId="{60C44CAE-1F0B-AA28-D032-AE1792BADC9B}"/>
          </ac:spMkLst>
        </pc:spChg>
        <pc:spChg chg="mod">
          <ac:chgData name="Peter Vargovčík" userId="a4f848ff8c2c878f" providerId="LiveId" clId="{3C7392A5-73BF-45F9-B9DE-D15C129B33EE}" dt="2026-10-06T12:05:01.810" v="2964" actId="20577"/>
          <ac:spMkLst>
            <pc:docMk/>
            <pc:sldMk cId="3379694390" sldId="261"/>
            <ac:spMk id="3" creationId="{2C59F6E6-443A-C989-DB2E-ED1F799CD77E}"/>
          </ac:spMkLst>
        </pc:spChg>
      </pc:sldChg>
      <pc:sldChg chg="modSp add mod">
        <pc:chgData name="Peter Vargovčík" userId="a4f848ff8c2c878f" providerId="LiveId" clId="{3C7392A5-73BF-45F9-B9DE-D15C129B33EE}" dt="2026-10-06T18:32:16.428" v="3736" actId="20577"/>
        <pc:sldMkLst>
          <pc:docMk/>
          <pc:sldMk cId="652135037" sldId="262"/>
        </pc:sldMkLst>
        <pc:spChg chg="mod">
          <ac:chgData name="Peter Vargovčík" userId="a4f848ff8c2c878f" providerId="LiveId" clId="{3C7392A5-73BF-45F9-B9DE-D15C129B33EE}" dt="2026-10-06T12:08:38.089" v="3035" actId="20577"/>
          <ac:spMkLst>
            <pc:docMk/>
            <pc:sldMk cId="652135037" sldId="262"/>
            <ac:spMk id="2" creationId="{50AFC662-AC33-0BB6-B307-A1802C113218}"/>
          </ac:spMkLst>
        </pc:spChg>
        <pc:spChg chg="mod">
          <ac:chgData name="Peter Vargovčík" userId="a4f848ff8c2c878f" providerId="LiveId" clId="{3C7392A5-73BF-45F9-B9DE-D15C129B33EE}" dt="2026-10-06T18:32:16.428" v="3736" actId="20577"/>
          <ac:spMkLst>
            <pc:docMk/>
            <pc:sldMk cId="652135037" sldId="262"/>
            <ac:spMk id="3" creationId="{43386278-CC06-4118-BEB7-340EE17D222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hlavičk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3" name="Zástupný objekt pre dá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6481C1-2904-41EA-96E7-F9839ED43DB1}" type="datetimeFigureOut">
              <a:rPr lang="sk-SK" smtClean="0"/>
              <a:t>6. 10. 2026</a:t>
            </a:fld>
            <a:endParaRPr lang="sk-SK"/>
          </a:p>
        </p:txBody>
      </p:sp>
      <p:sp>
        <p:nvSpPr>
          <p:cNvPr id="4" name="Zástupný objekt pre obrázok snímky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k-SK"/>
          </a:p>
        </p:txBody>
      </p:sp>
      <p:sp>
        <p:nvSpPr>
          <p:cNvPr id="5" name="Zástupný objekt pre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6" name="Zástupný objekt pre pät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7" name="Zástupný objekt pre číslo snímky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5CDBE3-6D46-46FE-9A43-626B9C37E76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21971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5CDBE3-6D46-46FE-9A43-626B9C37E764}" type="slidenum">
              <a:rPr lang="sk-SK" smtClean="0"/>
              <a:t>4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7469469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AE2D7-B887-2156-5C62-3BB3EF613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>
            <a:extLst>
              <a:ext uri="{FF2B5EF4-FFF2-40B4-BE49-F238E27FC236}">
                <a16:creationId xmlns:a16="http://schemas.microsoft.com/office/drawing/2014/main" id="{280BA6F7-69CF-CEC0-398E-CAB9DF39E6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>
            <a:extLst>
              <a:ext uri="{FF2B5EF4-FFF2-40B4-BE49-F238E27FC236}">
                <a16:creationId xmlns:a16="http://schemas.microsoft.com/office/drawing/2014/main" id="{2452A652-1E1D-3E77-697B-F3B6308935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A40298A1-A045-0AF1-C794-22692C186B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5CDBE3-6D46-46FE-9A43-626B9C37E764}" type="slidenum">
              <a:rPr lang="sk-SK" smtClean="0"/>
              <a:t>5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7789986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A8E0D-FEDD-DB40-DF8B-7C214DAFB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>
            <a:extLst>
              <a:ext uri="{FF2B5EF4-FFF2-40B4-BE49-F238E27FC236}">
                <a16:creationId xmlns:a16="http://schemas.microsoft.com/office/drawing/2014/main" id="{B0B9F39C-6841-1C6A-96C5-2ABA12CD28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>
            <a:extLst>
              <a:ext uri="{FF2B5EF4-FFF2-40B4-BE49-F238E27FC236}">
                <a16:creationId xmlns:a16="http://schemas.microsoft.com/office/drawing/2014/main" id="{B61656D9-CD7B-088A-8998-4DC5BE3AC5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A0777546-3221-4936-5F28-A56B1BCDAF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5CDBE3-6D46-46FE-9A43-626B9C37E764}" type="slidenum">
              <a:rPr lang="sk-SK" smtClean="0"/>
              <a:t>6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16357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10/5/2026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10/5/2026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10/5/2026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10/5/2026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10/5/2026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10/5/2026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tický 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10/5/2026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nuka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a s názv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10/5/2026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10/5/2026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B0366D4-BBD1-7AA9-A0D3-DA1347E5E3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Projekt </a:t>
            </a:r>
            <a:r>
              <a:rPr lang="en-US" dirty="0" err="1"/>
              <a:t>Algoritmy</a:t>
            </a:r>
            <a:r>
              <a:rPr lang="en-US" dirty="0"/>
              <a:t> a ich </a:t>
            </a:r>
            <a:r>
              <a:rPr lang="en-US" dirty="0" err="1"/>
              <a:t>zlo</a:t>
            </a:r>
            <a:r>
              <a:rPr lang="sk-SK" dirty="0"/>
              <a:t>ž</a:t>
            </a:r>
            <a:r>
              <a:rPr lang="en-US" dirty="0" err="1"/>
              <a:t>itos</a:t>
            </a:r>
            <a:r>
              <a:rPr lang="sk-SK" dirty="0"/>
              <a:t>ť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691AE069-4300-B533-4EF2-104A6956B1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k-SK" dirty="0"/>
              <a:t>pre 4Si 2026-27 </a:t>
            </a:r>
          </a:p>
        </p:txBody>
      </p:sp>
    </p:spTree>
    <p:extLst>
      <p:ext uri="{BB962C8B-B14F-4D97-AF65-F5344CB8AC3E}">
        <p14:creationId xmlns:p14="http://schemas.microsoft.com/office/powerpoint/2010/main" val="1901688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548E579-21A3-D262-E43B-D11324D82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Úlohy z teórie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360B34C-1AFB-6626-FDE6-BD379837C5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263" y="2222287"/>
            <a:ext cx="11290433" cy="4515397"/>
          </a:xfrm>
        </p:spPr>
        <p:txBody>
          <a:bodyPr>
            <a:normAutofit lnSpcReduction="10000"/>
          </a:bodyPr>
          <a:lstStyle/>
          <a:p>
            <a:r>
              <a:rPr lang="sk-SK" dirty="0">
                <a:solidFill>
                  <a:schemeClr val="bg1"/>
                </a:solidFill>
              </a:rPr>
              <a:t>Vlastnými slovami zadefinujte pojmy </a:t>
            </a:r>
            <a:r>
              <a:rPr lang="sk-SK" b="1" dirty="0" err="1">
                <a:solidFill>
                  <a:schemeClr val="bg1"/>
                </a:solidFill>
              </a:rPr>
              <a:t>rekurzia</a:t>
            </a:r>
            <a:r>
              <a:rPr lang="sk-SK" b="1" dirty="0">
                <a:solidFill>
                  <a:schemeClr val="bg1"/>
                </a:solidFill>
              </a:rPr>
              <a:t> v programovaní</a:t>
            </a:r>
            <a:r>
              <a:rPr lang="sk-SK" dirty="0">
                <a:solidFill>
                  <a:schemeClr val="bg1"/>
                </a:solidFill>
              </a:rPr>
              <a:t>, </a:t>
            </a:r>
            <a:r>
              <a:rPr lang="sk-SK" b="1" dirty="0">
                <a:solidFill>
                  <a:schemeClr val="bg1"/>
                </a:solidFill>
              </a:rPr>
              <a:t>zložitosť algoritmu</a:t>
            </a:r>
          </a:p>
          <a:p>
            <a:r>
              <a:rPr lang="sk-SK" dirty="0">
                <a:solidFill>
                  <a:schemeClr val="bg1"/>
                </a:solidFill>
              </a:rPr>
              <a:t>Uveďte čo najjednoduchšie príklady programov so zložitosťou </a:t>
            </a:r>
            <a:r>
              <a:rPr lang="pt-BR" dirty="0">
                <a:solidFill>
                  <a:schemeClr val="bg1"/>
                </a:solidFill>
              </a:rPr>
              <a:t>O(1)</a:t>
            </a:r>
            <a:r>
              <a:rPr lang="sk-SK" dirty="0">
                <a:solidFill>
                  <a:schemeClr val="bg1"/>
                </a:solidFill>
              </a:rPr>
              <a:t>, </a:t>
            </a:r>
            <a:r>
              <a:rPr lang="pt-BR" dirty="0">
                <a:solidFill>
                  <a:schemeClr val="bg1"/>
                </a:solidFill>
              </a:rPr>
              <a:t>O(log n)</a:t>
            </a:r>
            <a:r>
              <a:rPr lang="sk-SK" dirty="0">
                <a:solidFill>
                  <a:schemeClr val="bg1"/>
                </a:solidFill>
              </a:rPr>
              <a:t>, </a:t>
            </a:r>
            <a:r>
              <a:rPr lang="pt-BR" dirty="0">
                <a:solidFill>
                  <a:schemeClr val="bg1"/>
                </a:solidFill>
              </a:rPr>
              <a:t>O(n)</a:t>
            </a:r>
            <a:r>
              <a:rPr lang="sk-SK" dirty="0">
                <a:solidFill>
                  <a:schemeClr val="bg1"/>
                </a:solidFill>
              </a:rPr>
              <a:t>, </a:t>
            </a:r>
            <a:r>
              <a:rPr lang="pt-BR" dirty="0">
                <a:solidFill>
                  <a:schemeClr val="bg1"/>
                </a:solidFill>
              </a:rPr>
              <a:t>O(n²)</a:t>
            </a:r>
            <a:r>
              <a:rPr lang="sk-SK" dirty="0">
                <a:solidFill>
                  <a:schemeClr val="bg1"/>
                </a:solidFill>
              </a:rPr>
              <a:t>, </a:t>
            </a:r>
            <a:r>
              <a:rPr lang="pt-BR" dirty="0">
                <a:solidFill>
                  <a:schemeClr val="bg1"/>
                </a:solidFill>
              </a:rPr>
              <a:t>O(</a:t>
            </a:r>
            <a:r>
              <a:rPr lang="sk-SK" dirty="0">
                <a:solidFill>
                  <a:schemeClr val="bg1"/>
                </a:solidFill>
              </a:rPr>
              <a:t>n</a:t>
            </a:r>
            <a:r>
              <a:rPr lang="sk-SK" b="1" baseline="30000" dirty="0">
                <a:solidFill>
                  <a:schemeClr val="bg1"/>
                </a:solidFill>
              </a:rPr>
              <a:t>3</a:t>
            </a:r>
            <a:r>
              <a:rPr lang="pt-BR" dirty="0">
                <a:solidFill>
                  <a:schemeClr val="bg1"/>
                </a:solidFill>
              </a:rPr>
              <a:t>)</a:t>
            </a:r>
          </a:p>
          <a:p>
            <a:r>
              <a:rPr lang="en-US" dirty="0" err="1">
                <a:solidFill>
                  <a:schemeClr val="bg1"/>
                </a:solidFill>
              </a:rPr>
              <a:t>Vyrie</a:t>
            </a:r>
            <a:r>
              <a:rPr lang="sk-SK" dirty="0" err="1">
                <a:solidFill>
                  <a:schemeClr val="bg1"/>
                </a:solidFill>
              </a:rPr>
              <a:t>šte</a:t>
            </a:r>
            <a:r>
              <a:rPr lang="sk-SK" dirty="0">
                <a:solidFill>
                  <a:schemeClr val="bg1"/>
                </a:solidFill>
              </a:rPr>
              <a:t> testové úlohy a príklady z prezentácie Zložitosť algoritmov</a:t>
            </a:r>
          </a:p>
          <a:p>
            <a:r>
              <a:rPr lang="sk-SK" dirty="0">
                <a:solidFill>
                  <a:schemeClr val="bg1"/>
                </a:solidFill>
              </a:rPr>
              <a:t>Opíšte načo sa používa, ako funguje, aké sú požiadavky na vstupy pre algoritmy</a:t>
            </a:r>
          </a:p>
          <a:p>
            <a:pPr lvl="1"/>
            <a:r>
              <a:rPr lang="sk-SK" dirty="0" err="1">
                <a:solidFill>
                  <a:schemeClr val="bg1"/>
                </a:solidFill>
              </a:rPr>
              <a:t>LinearSearch</a:t>
            </a:r>
            <a:endParaRPr lang="sk-SK" dirty="0">
              <a:solidFill>
                <a:schemeClr val="bg1"/>
              </a:solidFill>
            </a:endParaRPr>
          </a:p>
          <a:p>
            <a:pPr lvl="1"/>
            <a:r>
              <a:rPr lang="sk-SK" dirty="0" err="1">
                <a:solidFill>
                  <a:schemeClr val="bg1"/>
                </a:solidFill>
              </a:rPr>
              <a:t>BinarySearch</a:t>
            </a:r>
            <a:endParaRPr lang="sk-SK" dirty="0">
              <a:solidFill>
                <a:schemeClr val="bg1"/>
              </a:solidFill>
            </a:endParaRPr>
          </a:p>
          <a:p>
            <a:pPr lvl="1"/>
            <a:r>
              <a:rPr lang="sk-SK" dirty="0">
                <a:solidFill>
                  <a:schemeClr val="bg1"/>
                </a:solidFill>
              </a:rPr>
              <a:t>Jazdec na šachovnici DFS/BFS</a:t>
            </a:r>
          </a:p>
          <a:p>
            <a:pPr lvl="1"/>
            <a:r>
              <a:rPr lang="sk-SK" dirty="0">
                <a:solidFill>
                  <a:schemeClr val="bg1"/>
                </a:solidFill>
              </a:rPr>
              <a:t>Jeden z algoritmov </a:t>
            </a:r>
            <a:r>
              <a:rPr lang="sk-SK" dirty="0" err="1">
                <a:solidFill>
                  <a:schemeClr val="bg1"/>
                </a:solidFill>
              </a:rPr>
              <a:t>BubbleSort</a:t>
            </a:r>
            <a:r>
              <a:rPr lang="sk-SK" dirty="0">
                <a:solidFill>
                  <a:schemeClr val="bg1"/>
                </a:solidFill>
              </a:rPr>
              <a:t>, </a:t>
            </a:r>
            <a:r>
              <a:rPr lang="sk-SK" dirty="0" err="1">
                <a:solidFill>
                  <a:schemeClr val="bg1"/>
                </a:solidFill>
              </a:rPr>
              <a:t>InsertSort</a:t>
            </a:r>
            <a:r>
              <a:rPr lang="sk-SK" dirty="0">
                <a:solidFill>
                  <a:schemeClr val="bg1"/>
                </a:solidFill>
              </a:rPr>
              <a:t>, </a:t>
            </a:r>
            <a:r>
              <a:rPr lang="sk-SK" dirty="0" err="1">
                <a:solidFill>
                  <a:schemeClr val="bg1"/>
                </a:solidFill>
              </a:rPr>
              <a:t>SelectSort</a:t>
            </a:r>
            <a:endParaRPr lang="sk-SK" dirty="0">
              <a:solidFill>
                <a:schemeClr val="bg1"/>
              </a:solidFill>
            </a:endParaRPr>
          </a:p>
          <a:p>
            <a:pPr lvl="1"/>
            <a:r>
              <a:rPr lang="sk-SK" dirty="0">
                <a:solidFill>
                  <a:schemeClr val="bg1"/>
                </a:solidFill>
              </a:rPr>
              <a:t>Jeden z algoritmov </a:t>
            </a:r>
            <a:r>
              <a:rPr lang="sk-SK" dirty="0" err="1">
                <a:solidFill>
                  <a:schemeClr val="bg1"/>
                </a:solidFill>
              </a:rPr>
              <a:t>QuickSort</a:t>
            </a:r>
            <a:r>
              <a:rPr lang="sk-SK" dirty="0">
                <a:solidFill>
                  <a:schemeClr val="bg1"/>
                </a:solidFill>
              </a:rPr>
              <a:t>, </a:t>
            </a:r>
            <a:r>
              <a:rPr lang="sk-SK" dirty="0" err="1">
                <a:solidFill>
                  <a:schemeClr val="bg1"/>
                </a:solidFill>
              </a:rPr>
              <a:t>MergeSort</a:t>
            </a:r>
            <a:r>
              <a:rPr lang="sk-SK" dirty="0">
                <a:solidFill>
                  <a:schemeClr val="bg1"/>
                </a:solidFill>
              </a:rPr>
              <a:t>, </a:t>
            </a:r>
            <a:r>
              <a:rPr lang="sk-SK" dirty="0" err="1">
                <a:solidFill>
                  <a:schemeClr val="bg1"/>
                </a:solidFill>
              </a:rPr>
              <a:t>HeapSort</a:t>
            </a:r>
            <a:endParaRPr lang="sk-SK" dirty="0">
              <a:solidFill>
                <a:schemeClr val="bg1"/>
              </a:solidFill>
            </a:endParaRPr>
          </a:p>
          <a:p>
            <a:pPr lvl="1"/>
            <a:r>
              <a:rPr lang="sk-SK" dirty="0" err="1">
                <a:solidFill>
                  <a:schemeClr val="bg1"/>
                </a:solidFill>
              </a:rPr>
              <a:t>RadixSort</a:t>
            </a:r>
            <a:endParaRPr lang="sk-SK" dirty="0">
              <a:solidFill>
                <a:schemeClr val="bg1"/>
              </a:solidFill>
            </a:endParaRPr>
          </a:p>
          <a:p>
            <a:pPr lvl="1"/>
            <a:r>
              <a:rPr lang="sk-SK" dirty="0" err="1">
                <a:solidFill>
                  <a:schemeClr val="bg1"/>
                </a:solidFill>
              </a:rPr>
              <a:t>FloodFill</a:t>
            </a:r>
            <a:r>
              <a:rPr lang="sk-SK" dirty="0">
                <a:solidFill>
                  <a:schemeClr val="bg1"/>
                </a:solidFill>
              </a:rPr>
              <a:t> BFS</a:t>
            </a:r>
          </a:p>
          <a:p>
            <a:pPr lvl="1"/>
            <a:r>
              <a:rPr lang="sk-SK" dirty="0" err="1">
                <a:solidFill>
                  <a:schemeClr val="bg1"/>
                </a:solidFill>
              </a:rPr>
              <a:t>FloodFill</a:t>
            </a:r>
            <a:r>
              <a:rPr lang="sk-SK" dirty="0">
                <a:solidFill>
                  <a:schemeClr val="bg1"/>
                </a:solidFill>
              </a:rPr>
              <a:t> DFS</a:t>
            </a:r>
            <a:endParaRPr lang="pt-BR" dirty="0">
              <a:solidFill>
                <a:schemeClr val="bg1"/>
              </a:solidFill>
            </a:endParaRPr>
          </a:p>
          <a:p>
            <a:endParaRPr lang="sk-SK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8882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351096-C517-0B2C-C865-29FADD37A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0ED6F0D-894D-5E28-EB8D-E89B13A0F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Praktické úlohy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65394BB-8CC0-6BED-3076-4DFA3DBA4A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259" y="2222287"/>
            <a:ext cx="11531065" cy="4024509"/>
          </a:xfrm>
        </p:spPr>
        <p:txBody>
          <a:bodyPr>
            <a:normAutofit fontScale="92500"/>
          </a:bodyPr>
          <a:lstStyle/>
          <a:p>
            <a:r>
              <a:rPr lang="sk-SK" dirty="0">
                <a:solidFill>
                  <a:schemeClr val="bg1"/>
                </a:solidFill>
              </a:rPr>
              <a:t>Vykonajte merania a odhady vyplývajúce zo zložitosti na algoritmoch</a:t>
            </a:r>
          </a:p>
          <a:p>
            <a:pPr lvl="1"/>
            <a:r>
              <a:rPr lang="sk-SK" dirty="0" err="1">
                <a:solidFill>
                  <a:schemeClr val="bg1"/>
                </a:solidFill>
              </a:rPr>
              <a:t>LinearSearch</a:t>
            </a:r>
            <a:r>
              <a:rPr lang="sk-SK" dirty="0">
                <a:solidFill>
                  <a:schemeClr val="bg1"/>
                </a:solidFill>
              </a:rPr>
              <a:t> a </a:t>
            </a:r>
            <a:r>
              <a:rPr lang="sk-SK" dirty="0" err="1">
                <a:solidFill>
                  <a:schemeClr val="bg1"/>
                </a:solidFill>
              </a:rPr>
              <a:t>BinarySearch</a:t>
            </a:r>
            <a:r>
              <a:rPr lang="sk-SK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(ta</a:t>
            </a:r>
            <a:r>
              <a:rPr lang="sk-SK" dirty="0" err="1">
                <a:solidFill>
                  <a:schemeClr val="bg1"/>
                </a:solidFill>
              </a:rPr>
              <a:t>buľka</a:t>
            </a:r>
            <a:r>
              <a:rPr lang="en-US" dirty="0">
                <a:solidFill>
                  <a:schemeClr val="bg1"/>
                </a:solidFill>
              </a:rPr>
              <a:t> 1)</a:t>
            </a:r>
            <a:endParaRPr lang="sk-SK" dirty="0">
              <a:solidFill>
                <a:schemeClr val="bg1"/>
              </a:solidFill>
            </a:endParaRPr>
          </a:p>
          <a:p>
            <a:pPr lvl="1"/>
            <a:r>
              <a:rPr lang="sk-SK" dirty="0" err="1">
                <a:solidFill>
                  <a:schemeClr val="bg1"/>
                </a:solidFill>
              </a:rPr>
              <a:t>RadixSort</a:t>
            </a:r>
            <a:r>
              <a:rPr lang="sk-SK" dirty="0">
                <a:solidFill>
                  <a:schemeClr val="bg1"/>
                </a:solidFill>
              </a:rPr>
              <a:t>, vybraný z </a:t>
            </a:r>
            <a:r>
              <a:rPr lang="sk-SK" dirty="0" err="1">
                <a:solidFill>
                  <a:schemeClr val="bg1"/>
                </a:solidFill>
              </a:rPr>
              <a:t>BubbleSort</a:t>
            </a:r>
            <a:r>
              <a:rPr lang="sk-SK" dirty="0">
                <a:solidFill>
                  <a:schemeClr val="bg1"/>
                </a:solidFill>
              </a:rPr>
              <a:t>, </a:t>
            </a:r>
            <a:r>
              <a:rPr lang="sk-SK" dirty="0" err="1">
                <a:solidFill>
                  <a:schemeClr val="bg1"/>
                </a:solidFill>
              </a:rPr>
              <a:t>InsertSort</a:t>
            </a:r>
            <a:r>
              <a:rPr lang="sk-SK" dirty="0">
                <a:solidFill>
                  <a:schemeClr val="bg1"/>
                </a:solidFill>
              </a:rPr>
              <a:t>, </a:t>
            </a:r>
            <a:r>
              <a:rPr lang="sk-SK" dirty="0" err="1">
                <a:solidFill>
                  <a:schemeClr val="bg1"/>
                </a:solidFill>
              </a:rPr>
              <a:t>SelectSort</a:t>
            </a:r>
            <a:r>
              <a:rPr lang="sk-SK" dirty="0">
                <a:solidFill>
                  <a:schemeClr val="bg1"/>
                </a:solidFill>
              </a:rPr>
              <a:t>, vybraný z </a:t>
            </a:r>
            <a:r>
              <a:rPr lang="sk-SK" dirty="0" err="1">
                <a:solidFill>
                  <a:schemeClr val="bg1"/>
                </a:solidFill>
              </a:rPr>
              <a:t>QuickSort</a:t>
            </a:r>
            <a:r>
              <a:rPr lang="sk-SK" dirty="0">
                <a:solidFill>
                  <a:schemeClr val="bg1"/>
                </a:solidFill>
              </a:rPr>
              <a:t>, </a:t>
            </a:r>
            <a:r>
              <a:rPr lang="sk-SK" dirty="0" err="1">
                <a:solidFill>
                  <a:schemeClr val="bg1"/>
                </a:solidFill>
              </a:rPr>
              <a:t>MergeSort</a:t>
            </a:r>
            <a:r>
              <a:rPr lang="sk-SK" dirty="0">
                <a:solidFill>
                  <a:schemeClr val="bg1"/>
                </a:solidFill>
              </a:rPr>
              <a:t>, </a:t>
            </a:r>
            <a:r>
              <a:rPr lang="sk-SK" dirty="0" err="1">
                <a:solidFill>
                  <a:schemeClr val="bg1"/>
                </a:solidFill>
              </a:rPr>
              <a:t>HeapSort</a:t>
            </a:r>
            <a:r>
              <a:rPr lang="sk-SK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(tabu</a:t>
            </a:r>
            <a:r>
              <a:rPr lang="sk-SK" dirty="0" err="1">
                <a:solidFill>
                  <a:schemeClr val="bg1"/>
                </a:solidFill>
              </a:rPr>
              <a:t>ľka</a:t>
            </a:r>
            <a:r>
              <a:rPr lang="sk-SK" dirty="0">
                <a:solidFill>
                  <a:schemeClr val="bg1"/>
                </a:solidFill>
              </a:rPr>
              <a:t> 2</a:t>
            </a:r>
            <a:r>
              <a:rPr lang="en-US" dirty="0">
                <a:solidFill>
                  <a:schemeClr val="bg1"/>
                </a:solidFill>
              </a:rPr>
              <a:t>)</a:t>
            </a:r>
            <a:endParaRPr lang="sk-SK" dirty="0">
              <a:solidFill>
                <a:schemeClr val="bg1"/>
              </a:solidFill>
            </a:endParaRPr>
          </a:p>
          <a:p>
            <a:pPr lvl="1"/>
            <a:r>
              <a:rPr lang="sk-SK" dirty="0">
                <a:solidFill>
                  <a:schemeClr val="bg1"/>
                </a:solidFill>
              </a:rPr>
              <a:t>Jazdec na šachovnici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sk-SK" dirty="0" err="1">
                <a:solidFill>
                  <a:schemeClr val="bg1"/>
                </a:solidFill>
              </a:rPr>
              <a:t>FloodFill</a:t>
            </a:r>
            <a:r>
              <a:rPr lang="sk-SK" dirty="0">
                <a:solidFill>
                  <a:schemeClr val="bg1"/>
                </a:solidFill>
              </a:rPr>
              <a:t> BFS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sk-SK" dirty="0" err="1">
                <a:solidFill>
                  <a:schemeClr val="bg1"/>
                </a:solidFill>
              </a:rPr>
              <a:t>FloodFill</a:t>
            </a:r>
            <a:r>
              <a:rPr lang="sk-SK" dirty="0">
                <a:solidFill>
                  <a:schemeClr val="bg1"/>
                </a:solidFill>
              </a:rPr>
              <a:t> DFS</a:t>
            </a:r>
            <a:r>
              <a:rPr lang="en-US" dirty="0">
                <a:solidFill>
                  <a:schemeClr val="bg1"/>
                </a:solidFill>
              </a:rPr>
              <a:t> (tabu</a:t>
            </a:r>
            <a:r>
              <a:rPr lang="sk-SK" dirty="0" err="1">
                <a:solidFill>
                  <a:schemeClr val="bg1"/>
                </a:solidFill>
              </a:rPr>
              <a:t>ľka</a:t>
            </a:r>
            <a:r>
              <a:rPr lang="sk-SK" dirty="0">
                <a:solidFill>
                  <a:schemeClr val="bg1"/>
                </a:solidFill>
              </a:rPr>
              <a:t> 3)</a:t>
            </a:r>
          </a:p>
          <a:p>
            <a:pPr lvl="1"/>
            <a:r>
              <a:rPr lang="sk-SK" dirty="0">
                <a:solidFill>
                  <a:schemeClr val="bg1"/>
                </a:solidFill>
              </a:rPr>
              <a:t>Ku každej tabuľke vytvorte graf porovnávajúci jednotlivé algoritmy a graf znázorňujúci, ako skutočnosť naplnila očakávania z odhadu. Pre grafy zvoľte primeranú mierku (lineárnu alebo logaritmickú)</a:t>
            </a:r>
          </a:p>
          <a:p>
            <a:pPr lvl="1"/>
            <a:endParaRPr lang="sk-SK" dirty="0">
              <a:solidFill>
                <a:schemeClr val="bg1"/>
              </a:solidFill>
            </a:endParaRPr>
          </a:p>
          <a:p>
            <a:r>
              <a:rPr lang="sk-SK" dirty="0">
                <a:solidFill>
                  <a:schemeClr val="bg1"/>
                </a:solidFill>
              </a:rPr>
              <a:t>Merania môžu obsahovať výnimočne aj údaje vymykajúce sa očakávaniam. Takýto údaj podfarbite červenou a nezahŕňajte ho do výpočtov</a:t>
            </a:r>
          </a:p>
          <a:p>
            <a:r>
              <a:rPr lang="sk-SK" dirty="0">
                <a:solidFill>
                  <a:schemeClr val="bg1"/>
                </a:solidFill>
              </a:rPr>
              <a:t>Praktickú časť vyhodnoťte - </a:t>
            </a:r>
            <a:r>
              <a:rPr lang="sk-SK">
                <a:solidFill>
                  <a:schemeClr val="bg1"/>
                </a:solidFill>
              </a:rPr>
              <a:t>ako vnímate výhody</a:t>
            </a:r>
            <a:r>
              <a:rPr lang="sk-SK" dirty="0">
                <a:solidFill>
                  <a:schemeClr val="bg1"/>
                </a:solidFill>
              </a:rPr>
              <a:t>, nevýhody algoritmov, či sa naplnili očakávania z odhadov, či vznikali anomálie a prečo asi, čo ste sa pri spracovávaní projektu naučili, v čom zdokonalili</a:t>
            </a:r>
            <a:endParaRPr lang="pt-BR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Term</a:t>
            </a:r>
            <a:r>
              <a:rPr lang="sk-SK" dirty="0" err="1">
                <a:solidFill>
                  <a:schemeClr val="bg1"/>
                </a:solidFill>
              </a:rPr>
              <a:t>ín</a:t>
            </a:r>
            <a:r>
              <a:rPr lang="sk-SK" dirty="0">
                <a:solidFill>
                  <a:schemeClr val="bg1"/>
                </a:solidFill>
              </a:rPr>
              <a:t> odovzdania projektu 22.10.2026 do polnoci</a:t>
            </a:r>
          </a:p>
        </p:txBody>
      </p:sp>
    </p:spTree>
    <p:extLst>
      <p:ext uri="{BB962C8B-B14F-4D97-AF65-F5344CB8AC3E}">
        <p14:creationId xmlns:p14="http://schemas.microsoft.com/office/powerpoint/2010/main" val="965115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D768C9-9E0A-AAD1-3A5D-F9664BA69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111F1D0-9F6F-3467-7FEB-533F045FF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999" y="447188"/>
            <a:ext cx="10932822" cy="659717"/>
          </a:xfrm>
        </p:spPr>
        <p:txBody>
          <a:bodyPr/>
          <a:lstStyle/>
          <a:p>
            <a:r>
              <a:rPr lang="sk-SK" dirty="0"/>
              <a:t>Praktické úlohy – podrobnosti pre tabuľku 1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08D9FA0-0DC8-F3AC-5515-C19FA8F4C0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259" y="1857676"/>
            <a:ext cx="11531065" cy="5000324"/>
          </a:xfrm>
        </p:spPr>
        <p:txBody>
          <a:bodyPr>
            <a:normAutofit fontScale="85000" lnSpcReduction="20000"/>
          </a:bodyPr>
          <a:lstStyle/>
          <a:p>
            <a:r>
              <a:rPr lang="sk-SK" dirty="0">
                <a:solidFill>
                  <a:schemeClr val="bg1"/>
                </a:solidFill>
              </a:rPr>
              <a:t>Dátová </a:t>
            </a:r>
            <a:r>
              <a:rPr lang="sk-SK" dirty="0" err="1">
                <a:solidFill>
                  <a:schemeClr val="bg1"/>
                </a:solidFill>
              </a:rPr>
              <a:t>sada</a:t>
            </a:r>
            <a:r>
              <a:rPr lang="sk-SK" dirty="0">
                <a:solidFill>
                  <a:schemeClr val="bg1"/>
                </a:solidFill>
              </a:rPr>
              <a:t> pre n=10 000 000 aj 10 náhodne vygenerovaných hodnôt z celého rozsahu sú tie isté pre oba algoritmy </a:t>
            </a:r>
            <a:r>
              <a:rPr lang="sk-SK" dirty="0" err="1">
                <a:solidFill>
                  <a:schemeClr val="bg1"/>
                </a:solidFill>
              </a:rPr>
              <a:t>Linear</a:t>
            </a:r>
            <a:r>
              <a:rPr lang="sk-SK" dirty="0">
                <a:solidFill>
                  <a:schemeClr val="bg1"/>
                </a:solidFill>
              </a:rPr>
              <a:t> </a:t>
            </a:r>
            <a:r>
              <a:rPr lang="sk-SK" dirty="0" err="1">
                <a:solidFill>
                  <a:schemeClr val="bg1"/>
                </a:solidFill>
              </a:rPr>
              <a:t>Search</a:t>
            </a:r>
            <a:r>
              <a:rPr lang="sk-SK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(LS) </a:t>
            </a:r>
            <a:r>
              <a:rPr lang="sk-SK" dirty="0">
                <a:solidFill>
                  <a:schemeClr val="bg1"/>
                </a:solidFill>
              </a:rPr>
              <a:t>aj </a:t>
            </a:r>
            <a:r>
              <a:rPr lang="sk-SK" dirty="0" err="1">
                <a:solidFill>
                  <a:schemeClr val="bg1"/>
                </a:solidFill>
              </a:rPr>
              <a:t>Binary</a:t>
            </a:r>
            <a:r>
              <a:rPr lang="sk-SK" dirty="0">
                <a:solidFill>
                  <a:schemeClr val="bg1"/>
                </a:solidFill>
              </a:rPr>
              <a:t> </a:t>
            </a:r>
            <a:r>
              <a:rPr lang="sk-SK" dirty="0" err="1">
                <a:solidFill>
                  <a:schemeClr val="bg1"/>
                </a:solidFill>
              </a:rPr>
              <a:t>Search</a:t>
            </a:r>
            <a:r>
              <a:rPr lang="en-US" dirty="0">
                <a:solidFill>
                  <a:schemeClr val="bg1"/>
                </a:solidFill>
              </a:rPr>
              <a:t> (BS)</a:t>
            </a:r>
            <a:endParaRPr lang="sk-SK" dirty="0">
              <a:solidFill>
                <a:schemeClr val="bg1"/>
              </a:solidFill>
            </a:endParaRPr>
          </a:p>
          <a:p>
            <a:r>
              <a:rPr lang="sk-SK" dirty="0">
                <a:solidFill>
                  <a:schemeClr val="bg1"/>
                </a:solidFill>
              </a:rPr>
              <a:t>Inú dátovú sadu a </a:t>
            </a:r>
            <a:r>
              <a:rPr lang="en-US" dirty="0" err="1">
                <a:solidFill>
                  <a:schemeClr val="bg1"/>
                </a:solidFill>
              </a:rPr>
              <a:t>i</a:t>
            </a:r>
            <a:r>
              <a:rPr lang="sk-SK" dirty="0" err="1">
                <a:solidFill>
                  <a:schemeClr val="bg1"/>
                </a:solidFill>
              </a:rPr>
              <a:t>ných</a:t>
            </a:r>
            <a:r>
              <a:rPr lang="sk-SK" dirty="0">
                <a:solidFill>
                  <a:schemeClr val="bg1"/>
                </a:solidFill>
              </a:rPr>
              <a:t> 10 hodnôt</a:t>
            </a:r>
            <a:r>
              <a:rPr lang="en-US" dirty="0">
                <a:solidFill>
                  <a:schemeClr val="bg1"/>
                </a:solidFill>
              </a:rPr>
              <a:t>,</a:t>
            </a:r>
            <a:r>
              <a:rPr lang="sk-SK" dirty="0">
                <a:solidFill>
                  <a:schemeClr val="bg1"/>
                </a:solidFill>
              </a:rPr>
              <a:t> ale tiež rovnakých pre oba algoritmy použijete pre n=100 000 000</a:t>
            </a:r>
          </a:p>
          <a:p>
            <a:r>
              <a:rPr lang="sk-SK" dirty="0">
                <a:solidFill>
                  <a:schemeClr val="bg1"/>
                </a:solidFill>
              </a:rPr>
              <a:t>napr. ak najmenšie číslo v zozname je 0 a najväčšie 50 000 000, tak použite pre generovanie 10 hľadaných hodnôt </a:t>
            </a:r>
            <a:r>
              <a:rPr lang="sk-SK" dirty="0" err="1">
                <a:solidFill>
                  <a:schemeClr val="bg1"/>
                </a:solidFill>
              </a:rPr>
              <a:t>random.randint</a:t>
            </a:r>
            <a:r>
              <a:rPr lang="sk-SK" dirty="0">
                <a:solidFill>
                  <a:schemeClr val="bg1"/>
                </a:solidFill>
              </a:rPr>
              <a:t>(0,50000000)</a:t>
            </a:r>
          </a:p>
          <a:p>
            <a:r>
              <a:rPr lang="sk-SK" dirty="0">
                <a:solidFill>
                  <a:schemeClr val="bg1"/>
                </a:solidFill>
              </a:rPr>
              <a:t>Odporúčanie: veľké zoznamy si usporiadané už vygenerujte a pritom umožnite výskyt rovnakých čísel v zozname</a:t>
            </a:r>
            <a:br>
              <a:rPr lang="sk-SK" dirty="0">
                <a:solidFill>
                  <a:schemeClr val="bg1"/>
                </a:solidFill>
              </a:rPr>
            </a:br>
            <a:r>
              <a:rPr lang="sk-SK" dirty="0">
                <a:solidFill>
                  <a:schemeClr val="bg1"/>
                </a:solidFill>
              </a:rPr>
              <a:t>Použitie príkazu sort by mohlo trvať dlhé minúty</a:t>
            </a:r>
          </a:p>
          <a:p>
            <a:r>
              <a:rPr lang="sk-SK" dirty="0">
                <a:solidFill>
                  <a:schemeClr val="bg1"/>
                </a:solidFill>
              </a:rPr>
              <a:t>Porovnajte výkonnosť algoritmov LS a BS tak, že zmeriate u oboch algoritmov čas a počet použitých porovnaní (príkazov </a:t>
            </a:r>
            <a:r>
              <a:rPr lang="sk-SK" dirty="0" err="1">
                <a:solidFill>
                  <a:schemeClr val="bg1"/>
                </a:solidFill>
              </a:rPr>
              <a:t>if</a:t>
            </a:r>
            <a:r>
              <a:rPr lang="sk-SK" dirty="0">
                <a:solidFill>
                  <a:schemeClr val="bg1"/>
                </a:solidFill>
              </a:rPr>
              <a:t>) počas každého vyhľadávania</a:t>
            </a:r>
          </a:p>
          <a:p>
            <a:r>
              <a:rPr lang="sk-SK" dirty="0">
                <a:solidFill>
                  <a:schemeClr val="bg1"/>
                </a:solidFill>
              </a:rPr>
              <a:t>Z priemerných hodnôt časov a počtu porovnaní v menšej dátovej sade odhadnite s využitím časovej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sk-SK" dirty="0">
                <a:solidFill>
                  <a:schemeClr val="bg1"/>
                </a:solidFill>
              </a:rPr>
              <a:t>zložitosti algoritmu, ako dlho bude algoritmus vyhľadávať hodnoty vo väčšej dátovej sade a koľko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sk-SK" dirty="0">
                <a:solidFill>
                  <a:schemeClr val="bg1"/>
                </a:solidFill>
              </a:rPr>
              <a:t>pritom asi vykoná porovnaní. V bunkách odhad sa majú nachádzať vzorce, nie V</a:t>
            </a:r>
            <a:r>
              <a:rPr lang="en-US" dirty="0">
                <a:solidFill>
                  <a:schemeClr val="bg1"/>
                </a:solidFill>
              </a:rPr>
              <a:t>a</a:t>
            </a:r>
            <a:r>
              <a:rPr lang="sk-SK" dirty="0" err="1">
                <a:solidFill>
                  <a:schemeClr val="bg1"/>
                </a:solidFill>
              </a:rPr>
              <a:t>še</a:t>
            </a:r>
            <a:r>
              <a:rPr lang="sk-SK" dirty="0">
                <a:solidFill>
                  <a:schemeClr val="bg1"/>
                </a:solidFill>
              </a:rPr>
              <a:t> tipy.</a:t>
            </a:r>
          </a:p>
          <a:p>
            <a:endParaRPr lang="sk-SK" dirty="0">
              <a:solidFill>
                <a:schemeClr val="bg1"/>
              </a:solidFill>
            </a:endParaRPr>
          </a:p>
          <a:p>
            <a:r>
              <a:rPr lang="sk-SK" dirty="0">
                <a:solidFill>
                  <a:schemeClr val="bg1"/>
                </a:solidFill>
              </a:rPr>
              <a:t>Teoretické odhady a skutočne namerané hodnoty porovnajte a vyhodnoťte úspešnosť odhadu</a:t>
            </a:r>
          </a:p>
          <a:p>
            <a:r>
              <a:rPr lang="sk-SK" dirty="0">
                <a:solidFill>
                  <a:schemeClr val="bg1"/>
                </a:solidFill>
              </a:rPr>
              <a:t>Dobre zvolená </a:t>
            </a:r>
            <a:r>
              <a:rPr lang="sk-SK" dirty="0" err="1">
                <a:solidFill>
                  <a:schemeClr val="bg1"/>
                </a:solidFill>
              </a:rPr>
              <a:t>datová</a:t>
            </a:r>
            <a:r>
              <a:rPr lang="sk-SK" dirty="0">
                <a:solidFill>
                  <a:schemeClr val="bg1"/>
                </a:solidFill>
              </a:rPr>
              <a:t> </a:t>
            </a:r>
            <a:r>
              <a:rPr lang="sk-SK" dirty="0" err="1">
                <a:solidFill>
                  <a:schemeClr val="bg1"/>
                </a:solidFill>
              </a:rPr>
              <a:t>sada</a:t>
            </a:r>
            <a:r>
              <a:rPr lang="sk-SK" dirty="0">
                <a:solidFill>
                  <a:schemeClr val="bg1"/>
                </a:solidFill>
              </a:rPr>
              <a:t> bude mať 1 až 5 nájdených hodnôt a 5 až 9 nenájdených</a:t>
            </a:r>
          </a:p>
          <a:p>
            <a:r>
              <a:rPr lang="sk-SK" dirty="0">
                <a:solidFill>
                  <a:schemeClr val="bg1"/>
                </a:solidFill>
              </a:rPr>
              <a:t>Časové anomálie meraní </a:t>
            </a:r>
            <a:r>
              <a:rPr lang="en-US" dirty="0">
                <a:solidFill>
                  <a:schemeClr val="bg1"/>
                </a:solidFill>
              </a:rPr>
              <a:t>(</a:t>
            </a:r>
            <a:r>
              <a:rPr lang="sk-SK" dirty="0">
                <a:solidFill>
                  <a:schemeClr val="bg1"/>
                </a:solidFill>
              </a:rPr>
              <a:t>ak sa vyskytli) zvýraznite červeným podfarbením bunky a nezapočítajte do priemeru</a:t>
            </a:r>
          </a:p>
          <a:p>
            <a:r>
              <a:rPr lang="sk-SK" dirty="0">
                <a:solidFill>
                  <a:schemeClr val="bg1"/>
                </a:solidFill>
              </a:rPr>
              <a:t>Graficky porovnajte oba algoritmy medzi sebou na oboch </a:t>
            </a:r>
            <a:r>
              <a:rPr lang="sk-SK" dirty="0" err="1">
                <a:solidFill>
                  <a:schemeClr val="bg1"/>
                </a:solidFill>
              </a:rPr>
              <a:t>sadách</a:t>
            </a:r>
            <a:r>
              <a:rPr lang="sk-SK" dirty="0">
                <a:solidFill>
                  <a:schemeClr val="bg1"/>
                </a:solidFill>
              </a:rPr>
              <a:t> pre čas aj počet porovnaní</a:t>
            </a:r>
            <a:br>
              <a:rPr lang="sk-SK" dirty="0">
                <a:solidFill>
                  <a:schemeClr val="bg1"/>
                </a:solidFill>
              </a:rPr>
            </a:br>
            <a:r>
              <a:rPr lang="sk-SK" dirty="0">
                <a:solidFill>
                  <a:schemeClr val="bg1"/>
                </a:solidFill>
              </a:rPr>
              <a:t>V grafe nech sa objaví aj porovnanie odhadu so skutočnosťou. Graf má mať logaritmickú stupnicu na osi Y</a:t>
            </a:r>
          </a:p>
        </p:txBody>
      </p:sp>
    </p:spTree>
    <p:extLst>
      <p:ext uri="{BB962C8B-B14F-4D97-AF65-F5344CB8AC3E}">
        <p14:creationId xmlns:p14="http://schemas.microsoft.com/office/powerpoint/2010/main" val="4115178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65F586-6B82-94E0-B28B-24C0BB1C3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0C44CAE-1F0B-AA28-D032-AE1792BAD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999" y="447188"/>
            <a:ext cx="10932822" cy="659717"/>
          </a:xfrm>
        </p:spPr>
        <p:txBody>
          <a:bodyPr/>
          <a:lstStyle/>
          <a:p>
            <a:r>
              <a:rPr lang="sk-SK" dirty="0"/>
              <a:t>Praktické úlohy – podrobnosti pre tabuľku 2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C59F6E6-443A-C989-DB2E-ED1F799CD7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259" y="1857676"/>
            <a:ext cx="11531065" cy="5000324"/>
          </a:xfrm>
        </p:spPr>
        <p:txBody>
          <a:bodyPr>
            <a:normAutofit/>
          </a:bodyPr>
          <a:lstStyle/>
          <a:p>
            <a:r>
              <a:rPr lang="sk-SK" dirty="0">
                <a:solidFill>
                  <a:schemeClr val="bg1"/>
                </a:solidFill>
              </a:rPr>
              <a:t>Pre tri algoritmy – </a:t>
            </a:r>
            <a:r>
              <a:rPr lang="sk-SK" dirty="0" err="1">
                <a:solidFill>
                  <a:schemeClr val="bg1"/>
                </a:solidFill>
              </a:rPr>
              <a:t>RadixSort</a:t>
            </a:r>
            <a:r>
              <a:rPr lang="sk-SK" dirty="0">
                <a:solidFill>
                  <a:schemeClr val="bg1"/>
                </a:solidFill>
              </a:rPr>
              <a:t> a dva vybrané vykonajte merania na tých istých 5 rôznych dátových </a:t>
            </a:r>
            <a:r>
              <a:rPr lang="sk-SK" dirty="0" err="1">
                <a:solidFill>
                  <a:schemeClr val="bg1"/>
                </a:solidFill>
              </a:rPr>
              <a:t>sadách</a:t>
            </a:r>
            <a:r>
              <a:rPr lang="sk-SK" dirty="0">
                <a:solidFill>
                  <a:schemeClr val="bg1"/>
                </a:solidFill>
              </a:rPr>
              <a:t> o veľkosti 10000 dát</a:t>
            </a:r>
          </a:p>
          <a:p>
            <a:endParaRPr lang="sk-SK" dirty="0">
              <a:solidFill>
                <a:schemeClr val="bg1"/>
              </a:solidFill>
            </a:endParaRPr>
          </a:p>
          <a:p>
            <a:r>
              <a:rPr lang="sk-SK" dirty="0">
                <a:solidFill>
                  <a:schemeClr val="bg1"/>
                </a:solidFill>
              </a:rPr>
              <a:t>Časy, počty porovnaní a počty presunov zoraďovaných dát zapíšte do tabuľky, vypočítajte z nich priemery a tie použite pre odhad priemerov väčších </a:t>
            </a:r>
            <a:r>
              <a:rPr lang="sk-SK" dirty="0" err="1">
                <a:solidFill>
                  <a:schemeClr val="bg1"/>
                </a:solidFill>
              </a:rPr>
              <a:t>sád</a:t>
            </a:r>
            <a:r>
              <a:rPr lang="sk-SK" dirty="0">
                <a:solidFill>
                  <a:schemeClr val="bg1"/>
                </a:solidFill>
              </a:rPr>
              <a:t> N</a:t>
            </a:r>
            <a:r>
              <a:rPr lang="en-US" dirty="0">
                <a:solidFill>
                  <a:schemeClr val="bg1"/>
                </a:solidFill>
              </a:rPr>
              <a:t>=</a:t>
            </a:r>
            <a:r>
              <a:rPr lang="sk-SK" dirty="0">
                <a:solidFill>
                  <a:schemeClr val="bg1"/>
                </a:solidFill>
              </a:rPr>
              <a:t>2000</a:t>
            </a:r>
            <a:r>
              <a:rPr lang="en-US" dirty="0">
                <a:solidFill>
                  <a:schemeClr val="bg1"/>
                </a:solidFill>
              </a:rPr>
              <a:t>0 d</a:t>
            </a:r>
            <a:r>
              <a:rPr lang="sk-SK" dirty="0" err="1">
                <a:solidFill>
                  <a:schemeClr val="bg1"/>
                </a:solidFill>
              </a:rPr>
              <a:t>át</a:t>
            </a:r>
            <a:r>
              <a:rPr lang="sk-SK" dirty="0">
                <a:solidFill>
                  <a:schemeClr val="bg1"/>
                </a:solidFill>
              </a:rPr>
              <a:t>. V stĺpci odhad sa majú nachádzať vzorce, nie výplody mysle</a:t>
            </a:r>
          </a:p>
          <a:p>
            <a:endParaRPr lang="sk-SK" dirty="0">
              <a:solidFill>
                <a:schemeClr val="bg1"/>
              </a:solidFill>
            </a:endParaRPr>
          </a:p>
          <a:p>
            <a:r>
              <a:rPr lang="sk-SK" dirty="0">
                <a:solidFill>
                  <a:schemeClr val="bg1"/>
                </a:solidFill>
              </a:rPr>
              <a:t>Teoretické odhady a skutočne namerané priemerné hodnoty porovnajte a vyhodnoťte úspešnosť odhadu</a:t>
            </a:r>
          </a:p>
          <a:p>
            <a:r>
              <a:rPr lang="sk-SK" dirty="0">
                <a:solidFill>
                  <a:schemeClr val="bg1"/>
                </a:solidFill>
              </a:rPr>
              <a:t>Časové anomálie meraní zvýraznite červeným podfarbením bunky a nezapočítajte do priemeru</a:t>
            </a:r>
          </a:p>
          <a:p>
            <a:r>
              <a:rPr lang="sk-SK" dirty="0">
                <a:solidFill>
                  <a:schemeClr val="bg1"/>
                </a:solidFill>
              </a:rPr>
              <a:t>Graficky porovnajte všetky tri algoritmy medzi sebou na oboch </a:t>
            </a:r>
            <a:r>
              <a:rPr lang="sk-SK" dirty="0" err="1">
                <a:solidFill>
                  <a:schemeClr val="bg1"/>
                </a:solidFill>
              </a:rPr>
              <a:t>sadách</a:t>
            </a:r>
            <a:r>
              <a:rPr lang="sk-SK" dirty="0">
                <a:solidFill>
                  <a:schemeClr val="bg1"/>
                </a:solidFill>
              </a:rPr>
              <a:t> pre čas, počet porovnaní aj počet presunov.</a:t>
            </a:r>
            <a:br>
              <a:rPr lang="sk-SK" dirty="0">
                <a:solidFill>
                  <a:schemeClr val="bg1"/>
                </a:solidFill>
              </a:rPr>
            </a:br>
            <a:r>
              <a:rPr lang="sk-SK" dirty="0">
                <a:solidFill>
                  <a:schemeClr val="bg1"/>
                </a:solidFill>
              </a:rPr>
              <a:t>V grafe nech sa objaví aj porovnanie odhadu so skutočnosťou. Graf má mať logaritmickú stupnicu na osi Y</a:t>
            </a:r>
          </a:p>
        </p:txBody>
      </p:sp>
    </p:spTree>
    <p:extLst>
      <p:ext uri="{BB962C8B-B14F-4D97-AF65-F5344CB8AC3E}">
        <p14:creationId xmlns:p14="http://schemas.microsoft.com/office/powerpoint/2010/main" val="3379694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B3EE5A-753C-45E7-1B2E-75DABE4EE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0AFC662-AC33-0BB6-B307-A1802C113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999" y="447188"/>
            <a:ext cx="10932822" cy="659717"/>
          </a:xfrm>
        </p:spPr>
        <p:txBody>
          <a:bodyPr/>
          <a:lstStyle/>
          <a:p>
            <a:r>
              <a:rPr lang="sk-SK" dirty="0"/>
              <a:t>Praktické úlohy – podrobnosti pre tabuľku 3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43386278-CC06-4118-BEB7-340EE17D2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259" y="1857676"/>
            <a:ext cx="11531065" cy="5000324"/>
          </a:xfrm>
        </p:spPr>
        <p:txBody>
          <a:bodyPr>
            <a:normAutofit/>
          </a:bodyPr>
          <a:lstStyle/>
          <a:p>
            <a:r>
              <a:rPr lang="sk-SK" dirty="0">
                <a:solidFill>
                  <a:schemeClr val="bg1"/>
                </a:solidFill>
              </a:rPr>
              <a:t>Pre algoritmus Jazdec na šachovnici vykonajte merania času a počtu skúmaných ciest najskôr pre n=4 a obe verzie algoritmu BFS aj DFS</a:t>
            </a:r>
          </a:p>
          <a:p>
            <a:r>
              <a:rPr lang="sk-SK" dirty="0">
                <a:solidFill>
                  <a:schemeClr val="bg1"/>
                </a:solidFill>
              </a:rPr>
              <a:t>Potom podľa predpokladanej zložitosti odhadnite časy a počty skúmaných ciest pre n=5,6,7,8</a:t>
            </a:r>
          </a:p>
          <a:p>
            <a:r>
              <a:rPr lang="sk-SK" dirty="0">
                <a:solidFill>
                  <a:schemeClr val="bg1"/>
                </a:solidFill>
              </a:rPr>
              <a:t>Algoritmus </a:t>
            </a:r>
            <a:r>
              <a:rPr lang="sk-SK" dirty="0" err="1">
                <a:solidFill>
                  <a:schemeClr val="bg1"/>
                </a:solidFill>
              </a:rPr>
              <a:t>Floodfill</a:t>
            </a:r>
            <a:r>
              <a:rPr lang="sk-SK" dirty="0">
                <a:solidFill>
                  <a:schemeClr val="bg1"/>
                </a:solidFill>
              </a:rPr>
              <a:t> vyskúšajte so všetkými troma algoritmami BFS, DFS a DFS rekurzívne</a:t>
            </a:r>
            <a:r>
              <a:rPr lang="en-US" dirty="0">
                <a:solidFill>
                  <a:schemeClr val="bg1"/>
                </a:solidFill>
              </a:rPr>
              <a:t> pre </a:t>
            </a:r>
            <a:r>
              <a:rPr lang="en-US" dirty="0" err="1">
                <a:solidFill>
                  <a:schemeClr val="bg1"/>
                </a:solidFill>
              </a:rPr>
              <a:t>vyfarbenie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nejak</a:t>
            </a:r>
            <a:r>
              <a:rPr lang="sk-SK" dirty="0">
                <a:solidFill>
                  <a:schemeClr val="bg1"/>
                </a:solidFill>
              </a:rPr>
              <a:t>é</a:t>
            </a:r>
            <a:r>
              <a:rPr lang="en-US" dirty="0">
                <a:solidFill>
                  <a:schemeClr val="bg1"/>
                </a:solidFill>
              </a:rPr>
              <a:t>ho </a:t>
            </a:r>
            <a:r>
              <a:rPr lang="en-US" dirty="0" err="1">
                <a:solidFill>
                  <a:schemeClr val="bg1"/>
                </a:solidFill>
              </a:rPr>
              <a:t>uzavret</a:t>
            </a:r>
            <a:r>
              <a:rPr lang="sk-SK" dirty="0">
                <a:solidFill>
                  <a:schemeClr val="bg1"/>
                </a:solidFill>
              </a:rPr>
              <a:t>é</a:t>
            </a:r>
            <a:r>
              <a:rPr lang="en-US" dirty="0">
                <a:solidFill>
                  <a:schemeClr val="bg1"/>
                </a:solidFill>
              </a:rPr>
              <a:t>ho </a:t>
            </a:r>
            <a:r>
              <a:rPr lang="sk-SK" dirty="0">
                <a:solidFill>
                  <a:schemeClr val="bg1"/>
                </a:solidFill>
              </a:rPr>
              <a:t>útvaru. Zaznamenajte si časy pre počet vyfarbených pixelov. Potom vyfarbite iné útvary, zaznamenajte počet prefarbených pixelov a časy, ako dlho to trvalo (bez zapnutej animácie). A spätne dopočítajte odhad, či odpovedá skutočnosti.</a:t>
            </a:r>
            <a:br>
              <a:rPr lang="sk-SK" dirty="0">
                <a:solidFill>
                  <a:schemeClr val="bg1"/>
                </a:solidFill>
              </a:rPr>
            </a:br>
            <a:br>
              <a:rPr lang="sk-SK" dirty="0">
                <a:solidFill>
                  <a:schemeClr val="bg1"/>
                </a:solidFill>
              </a:rPr>
            </a:br>
            <a:r>
              <a:rPr lang="sk-SK" dirty="0">
                <a:solidFill>
                  <a:schemeClr val="bg1"/>
                </a:solidFill>
              </a:rPr>
              <a:t>Odhady a skutočnosti porovnajte aj graficky</a:t>
            </a:r>
          </a:p>
        </p:txBody>
      </p:sp>
    </p:spTree>
    <p:extLst>
      <p:ext uri="{BB962C8B-B14F-4D97-AF65-F5344CB8AC3E}">
        <p14:creationId xmlns:p14="http://schemas.microsoft.com/office/powerpoint/2010/main" val="65213503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tácia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ppt/theme/theme2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TM03457503[[fn=Citácia]]</Template>
  <TotalTime>1971</TotalTime>
  <Words>772</Words>
  <Application>Microsoft Office PowerPoint</Application>
  <PresentationFormat>Širokouhlá</PresentationFormat>
  <Paragraphs>52</Paragraphs>
  <Slides>6</Slides>
  <Notes>3</Notes>
  <HiddenSlides>0</HiddenSlides>
  <MMClips>0</MMClips>
  <ScaleCrop>false</ScaleCrop>
  <HeadingPairs>
    <vt:vector size="6" baseType="variant">
      <vt:variant>
        <vt:lpstr>Použité písma</vt:lpstr>
      </vt:variant>
      <vt:variant>
        <vt:i4>4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6</vt:i4>
      </vt:variant>
    </vt:vector>
  </HeadingPairs>
  <TitlesOfParts>
    <vt:vector size="11" baseType="lpstr">
      <vt:lpstr>Aptos</vt:lpstr>
      <vt:lpstr>Arial</vt:lpstr>
      <vt:lpstr>Century Gothic</vt:lpstr>
      <vt:lpstr>Wingdings 2</vt:lpstr>
      <vt:lpstr>Citácia</vt:lpstr>
      <vt:lpstr>Projekt Algoritmy a ich zložitosť</vt:lpstr>
      <vt:lpstr>Úlohy z teórie</vt:lpstr>
      <vt:lpstr>Praktické úlohy</vt:lpstr>
      <vt:lpstr>Praktické úlohy – podrobnosti pre tabuľku 1</vt:lpstr>
      <vt:lpstr>Praktické úlohy – podrobnosti pre tabuľku 2</vt:lpstr>
      <vt:lpstr>Praktické úlohy – podrobnosti pre tabuľku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 Vargovčík</dc:creator>
  <cp:lastModifiedBy>Peter Vargovčík</cp:lastModifiedBy>
  <cp:revision>1</cp:revision>
  <dcterms:created xsi:type="dcterms:W3CDTF">2026-10-05T09:48:42Z</dcterms:created>
  <dcterms:modified xsi:type="dcterms:W3CDTF">2026-10-06T18:39:56Z</dcterms:modified>
</cp:coreProperties>
</file>